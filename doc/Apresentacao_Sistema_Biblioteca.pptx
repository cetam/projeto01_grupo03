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47083"/>
            <a:ext cx="790575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15467"/>
            <a:ext cx="8931116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oppins"/>
              </a:rPr>
              <a:t>Sistema de Controle de </a:t>
            </a:r>
            <a:r>
              <a:rPr sz="3900" b="1" i="0" u="none">
                <a:solidFill>
                  <a:srgbClr val="60A5FA"/>
                </a:solidFill>
                <a:latin typeface="Poppins"/>
              </a:rPr>
              <a:t>Biblioteca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37433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Automação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acervo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ciclo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empréstimos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gestão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inadimplência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 e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controle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financeiro</a:t>
            </a:r>
            <a:r>
              <a:rPr sz="1650" b="0" i="0" u="none" dirty="0">
                <a:solidFill>
                  <a:srgbClr val="93C5FD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93C5FD"/>
                </a:solidFill>
                <a:latin typeface="Inter"/>
              </a:rPr>
              <a:t>multas</a:t>
            </a:r>
            <a:r>
              <a:rPr sz="1650" b="0" i="0" u="none">
                <a:solidFill>
                  <a:srgbClr val="93C5FD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199483"/>
            <a:ext cx="42481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FFFFFF"/>
                </a:solidFill>
                <a:latin typeface="Inter"/>
              </a:rPr>
              <a:t>Curso</a:t>
            </a:r>
            <a:r>
              <a:rPr sz="1200" b="1" i="0" u="none" dirty="0">
                <a:solidFill>
                  <a:srgbClr val="FFFFFF"/>
                </a:solidFill>
                <a:latin typeface="Inter"/>
              </a:rPr>
              <a:t>:</a:t>
            </a:r>
            <a:r>
              <a:rPr sz="1200" b="0" i="0" u="none" dirty="0">
                <a:solidFill>
                  <a:srgbClr val="E2E8F0"/>
                </a:solidFill>
                <a:latin typeface="Inter"/>
              </a:rPr>
              <a:t> CETAM - </a:t>
            </a:r>
            <a:r>
              <a:rPr sz="1200" b="0" i="0" u="none" dirty="0" err="1">
                <a:solidFill>
                  <a:srgbClr val="E2E8F0"/>
                </a:solidFill>
                <a:latin typeface="Inter"/>
              </a:rPr>
              <a:t>Projeto</a:t>
            </a:r>
            <a:r>
              <a:rPr sz="1200" b="0" i="0" u="none" dirty="0">
                <a:solidFill>
                  <a:srgbClr val="E2E8F0"/>
                </a:solidFill>
                <a:latin typeface="Inter"/>
              </a:rPr>
              <a:t> de Sistemas Computacionais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2100" y="4199483"/>
            <a:ext cx="12858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Equipe: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Grupo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725" y="4199483"/>
            <a:ext cx="13049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Data: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27/08/2026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51DC1103-D1F1-92BC-0B81-714374F7CE42}"/>
              </a:ext>
            </a:extLst>
          </p:cNvPr>
          <p:cNvSpPr txBox="1"/>
          <p:nvPr/>
        </p:nvSpPr>
        <p:spPr>
          <a:xfrm>
            <a:off x="838200" y="4447133"/>
            <a:ext cx="42481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1" dirty="0">
                <a:solidFill>
                  <a:srgbClr val="FFFFFF"/>
                </a:solidFill>
                <a:latin typeface="Inter"/>
              </a:rPr>
              <a:t>Componentes</a:t>
            </a:r>
            <a:r>
              <a:rPr sz="1200" b="1" i="0" u="none" dirty="0">
                <a:solidFill>
                  <a:srgbClr val="FFFFFF"/>
                </a:solidFill>
                <a:latin typeface="Inter"/>
              </a:rPr>
              <a:t>:</a:t>
            </a:r>
            <a:r>
              <a:rPr sz="1200" b="0" i="0" u="none" dirty="0">
                <a:solidFill>
                  <a:srgbClr val="E2E8F0"/>
                </a:solidFill>
                <a:latin typeface="Inter"/>
              </a:rPr>
              <a:t> </a:t>
            </a:r>
            <a:endParaRPr lang="pt-BR" sz="1200" b="0" i="0" u="none" dirty="0">
              <a:solidFill>
                <a:srgbClr val="E2E8F0"/>
              </a:solidFill>
              <a:latin typeface="Inter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E2E8F0"/>
                </a:solidFill>
                <a:latin typeface="Inter"/>
              </a:rPr>
              <a:t>Ana Carolina Bomfim Bandeira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i="0" u="none" dirty="0">
                <a:solidFill>
                  <a:srgbClr val="E2E8F0"/>
                </a:solidFill>
                <a:latin typeface="Inter"/>
              </a:rPr>
              <a:t>Breno Giov</a:t>
            </a:r>
            <a:r>
              <a:rPr lang="pt-BR" sz="1200" dirty="0">
                <a:solidFill>
                  <a:srgbClr val="E2E8F0"/>
                </a:solidFill>
                <a:latin typeface="Inter"/>
              </a:rPr>
              <a:t>anni Batalha Frota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i="0" u="none" dirty="0">
                <a:solidFill>
                  <a:srgbClr val="E2E8F0"/>
                </a:solidFill>
                <a:latin typeface="Inter"/>
              </a:rPr>
              <a:t>Marley Ga</a:t>
            </a:r>
            <a:r>
              <a:rPr lang="pt-BR" sz="1200" dirty="0">
                <a:solidFill>
                  <a:srgbClr val="E2E8F0"/>
                </a:solidFill>
                <a:latin typeface="Inter"/>
              </a:rPr>
              <a:t>briel Alves Lemos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i="0" u="none" dirty="0">
                <a:solidFill>
                  <a:srgbClr val="E2E8F0"/>
                </a:solidFill>
                <a:latin typeface="Inter"/>
              </a:rPr>
              <a:t>Wesley Neves Batista</a:t>
            </a:r>
            <a:endParaRPr sz="1200" b="0" i="0" u="none" dirty="0">
              <a:solidFill>
                <a:srgbClr val="E2E8F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38350"/>
            <a:ext cx="5467350" cy="3724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38350"/>
            <a:ext cx="5467350" cy="3724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352675"/>
            <a:ext cx="476059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O Problema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2819400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Gestão manual ou ineficiente de acervos bibliotecários escolares e acadêmicos gera gargalos operacionais: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7525" y="2352675"/>
            <a:ext cx="476059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A Solução Desenvolvida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819400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Uma plataforma Web robusta para automatizar o ciclo completo de vida da biblioteca: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405062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3448050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Falta de controle exato de exemplares em estoque;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8195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Dificuldade de rastrear empréstimos em atraso;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191000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Inadimplência não detectada automaticamente;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56247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Ausência de histórico financeiro para multas.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405062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91325" y="3448050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Cadastro estruturado de Livros, Autores, Editoras e Alunos;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076700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Baixa e reposição automática de exemplares no estoque;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4705350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Cálculo diário de atrasos e multas relativas;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50768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Relatórios analíticos gerados em PDF em tempo 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34099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7814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1529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5243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0825" y="34099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825" y="40386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0825" y="46672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0825" y="50387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1. Contextualização do Projeto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71725"/>
            <a:ext cx="2638425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275" y="2371725"/>
            <a:ext cx="2638425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71725"/>
            <a:ext cx="2638425" cy="3057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325" y="2371725"/>
            <a:ext cx="2638425" cy="3057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647950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371850"/>
            <a:ext cx="175021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Controller &amp;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771900"/>
            <a:ext cx="20859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Porta de entrada das requisições HTTP. Trata entradas do usuário, rotas da Web e rotas API JSON para ações assíncronas.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647950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0" y="3371850"/>
            <a:ext cx="136017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771900"/>
            <a:ext cx="2085975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Coração do sistema. Contém validações de negócio, controle transacional (@Transactional) e cálculo de multas/estoque.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647950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371850"/>
            <a:ext cx="17402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Repository &amp; JPA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771900"/>
            <a:ext cx="20859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Abstração de acesso aos dados via Spring Data JPA. Executa operações CRUD e consultas derivadas JPQL sem SQL manual.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3550" y="2647950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53550" y="3371850"/>
            <a:ext cx="18502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View (Thymeleaf)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3550" y="3771900"/>
            <a:ext cx="20859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Server-Side Rendering integrado com Bootstrap. Renderiza telas responsivas, componentes reutilizáveis e modais.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800350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1900" y="2800350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3212" y="2800350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7375" y="2800350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2. Arquitetura da Aplicação (Spring Boot)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95500"/>
            <a:ext cx="5467350" cy="3609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95500"/>
            <a:ext cx="5467350" cy="3609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409825"/>
            <a:ext cx="476059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Mapeamento (@Entity)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2876550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Anotação JPA que transforma a classe Java em uma tabela relacional MySQL: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6100" y="2409825"/>
            <a:ext cx="4730591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Persistência (@Repository)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876550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Interface estendendo JpaRepository: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462212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3505200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@Id &amp; @GeneratedValue: Gerenciamento da chave primária e auto-incremento;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4133850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@Column(unique = true): Restrição de unicidade para Matrícula, E-mail e ISBN;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762500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Relacionamentos estruturados com integridade referencial.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462212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91325" y="32480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Operações CRUD prontas sem escrita de SQL manual;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619500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Consultas derivadas por assinatura: findByStatus();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990975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Consultas customizadas em JPQL com @Query para relatórios de pendências.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34671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40957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47244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32099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35814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39528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" y="476250"/>
            <a:ext cx="117157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700" b="1" dirty="0">
                <a:solidFill>
                  <a:srgbClr val="0F172A"/>
                </a:solidFill>
                <a:latin typeface="Poppins"/>
              </a:rPr>
              <a:t>3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. Código: @Entity e @Repository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33612"/>
            <a:ext cx="546735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33612"/>
            <a:ext cx="546735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547937"/>
            <a:ext cx="476059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Camada @Controller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3014662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Intercepta as requisições Web do navegador: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7525" y="2547937"/>
            <a:ext cx="476059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O Ciclo da Requisição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600325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9175" y="3367087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Mapeamento de rotas com @GetMapping e @PostMapping;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3995737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Popula o objeto Model com dados vindos da camada Service;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4624387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Retorna o nome lógico do template Thymeleaf (ex: "emprestimos/listar").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600325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2825" y="3014662"/>
            <a:ext cx="4038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Navegador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envia requisição HTTP GET;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2825" y="3386137"/>
            <a:ext cx="4038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Controller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recebe e invoca o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Service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2825" y="3757612"/>
            <a:ext cx="4038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Service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consulta o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Repository / Banco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2825" y="4129087"/>
            <a:ext cx="4038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Controller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insere dados no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Model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2825" y="4500562"/>
            <a:ext cx="4038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Thymeleaf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processa o HTML e entrega ao Usuário.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332898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39576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458628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2325" y="29765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325" y="33480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2325" y="37195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2325" y="409098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2325" y="44624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4. Código: Controller &amp; Ciclo Spring MVC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1" y="2733675"/>
            <a:ext cx="43283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D4ED8"/>
                </a:solidFill>
                <a:latin typeface="Poppins"/>
              </a:rPr>
              <a:t>Modelo </a:t>
            </a:r>
            <a:r>
              <a:rPr sz="1650" b="1" i="0" u="none" dirty="0" err="1">
                <a:solidFill>
                  <a:srgbClr val="1D4ED8"/>
                </a:solidFill>
                <a:latin typeface="Poppins"/>
              </a:rPr>
              <a:t>Entidade</a:t>
            </a:r>
            <a:r>
              <a:rPr sz="1650" b="1" i="0" u="none" dirty="0">
                <a:solidFill>
                  <a:srgbClr val="1D4ED8"/>
                </a:solidFill>
                <a:latin typeface="Poppins"/>
              </a:rPr>
              <a:t> Relacionamento (DER)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3181350"/>
            <a:ext cx="3926144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Cardinais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 1:N no </a:t>
            </a: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Livro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Autor, Editora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Categoria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conectam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-se a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Livro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via @ManyToOne.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3810000"/>
            <a:ext cx="3926144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Empréstimo (Entidade Associativa):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Conecta Aluno e Livro registrando datas, prazos e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4438650"/>
            <a:ext cx="3926144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Relacionamento 1:1 com Multa: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Garante penalidade única atrelada ao empréstimo em atraso.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3254291"/>
            <a:ext cx="2190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4" y="3900412"/>
            <a:ext cx="1905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21" y="4497303"/>
            <a:ext cx="1333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5. Banco de Dados e Relacionamentos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ED9C65C-501F-E7FF-CBB9-C337A22D44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041" y="1633462"/>
            <a:ext cx="6300091" cy="4533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90762"/>
            <a:ext cx="5467350" cy="3219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90762"/>
            <a:ext cx="5467350" cy="3219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605087"/>
            <a:ext cx="476059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@Controller (Web MVC)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3071812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Focado na navegação e renderização de páginas completas do sistema: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675" y="2605087"/>
            <a:ext cx="470058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D4ED8"/>
                </a:solidFill>
                <a:latin typeface="Poppins SemiBold"/>
              </a:rPr>
              <a:t>@RestController (API 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71812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Focado no fornecimento de dados puros para requisições assíncronas: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6574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3681412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Retorna visualizações HTML renderizadas via servidor (Thymeleaf);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4310062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Utilizado nas telas principais de cadastro, listas e relatórios.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657475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1325" y="3681412"/>
            <a:ext cx="4610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Retorna payloads em formato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JSON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com status HTTP adequados;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4310062"/>
            <a:ext cx="4610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Caso de Uso: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Permite cadastrar Autores/Editoras via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Modal Rápido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na tela do Livro sem recarregar a página (requisições fetch() JS).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6433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42719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6433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2719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6. Plus Técnico: @Controller vs @RestController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05087"/>
            <a:ext cx="359405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00" y="2605087"/>
            <a:ext cx="359405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550" y="2605087"/>
            <a:ext cx="3594050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881312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605212"/>
            <a:ext cx="31503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Segurança e Desacoplamento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4005262"/>
            <a:ext cx="304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Evita expor a estrutura interna das tabelas do banco diretamente para a camada de apresentação HTML.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125" y="288131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5125" y="3605212"/>
            <a:ext cx="28403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Performance em Consultas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4005262"/>
            <a:ext cx="30416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Permite projeções JPQL diretas (COUNT, SUM) agregando dados sem instanciar entidades completas na memória.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775" y="288131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7775" y="3605212"/>
            <a:ext cx="26603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Prevenção de Loops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7775" y="4005262"/>
            <a:ext cx="3041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Elimina o problema de recursão infinita na serialização de entidades com relacionamentos bidirecionais (ex: Livro ↔ Empréstimo).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" y="3033712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812" y="3033712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0175" y="3033712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7. Arquitetura: Por que usamos DTOs?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0075" y="2243137"/>
            <a:ext cx="767095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Como funcionam os Indicadores do Dashboard: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0075" y="2728912"/>
            <a:ext cx="7305675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24425" y="2881312"/>
            <a:ext cx="66008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Agregação no Backend: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O RelatorioService calcula os números dos últimos 7 dias e distribuição de categorias.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0075" y="3671887"/>
            <a:ext cx="7305675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24425" y="3824287"/>
            <a:ext cx="66008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Injeção Dinâmica: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Dados são consolidados em um DashboardDTO e passados via Model ao Thymeleaf.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075" y="4614862"/>
            <a:ext cx="7305675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4425" y="4767262"/>
            <a:ext cx="66008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Renderização Visual: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O Chart.js consome os arrays JavaScript e desenha os gráficos interativos no canvas.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0075" y="3529012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0075" y="4471987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0075" y="5414962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0" y="290512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3848100"/>
            <a:ext cx="23812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050" y="4791075"/>
            <a:ext cx="21907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8. Dashboard e Gráficos de KPIs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E95C536-5BBB-7BCC-6A66-4A14B2467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55" y="2243137"/>
            <a:ext cx="3749365" cy="33302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19387"/>
            <a:ext cx="359405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00" y="2719387"/>
            <a:ext cx="359405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550" y="2719387"/>
            <a:ext cx="3594050" cy="2362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95612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719512"/>
            <a:ext cx="18302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Relatórios em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4119562"/>
            <a:ext cx="304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Geração instantânea de demonstrativos em PDF via biblioteca OpenHTMLtoPDF com layout A4 formatado.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125" y="299561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5125" y="3719512"/>
            <a:ext cx="193024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Componentização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4119562"/>
            <a:ext cx="304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Sidebar reutilizável via Thymeleaf Fragments com detecção de página ativa e suporte responsivo offcanvas.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775" y="299561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7775" y="3719512"/>
            <a:ext cx="20602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Cálculo Automático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7775" y="4119562"/>
            <a:ext cx="304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Rotina dinâmica para calcular dias de atraso e geração imediata de registros de multas financeiras.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" y="3148012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7525" y="3148012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8750" y="3148012"/>
            <a:ext cx="1714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476250"/>
            <a:ext cx="1171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9. Destaques e Diferenciais do Projeto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250" y="111442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4081462"/>
            <a:ext cx="5772150" cy="42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05801" y="2347912"/>
            <a:ext cx="318039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FFFFF"/>
                </a:solidFill>
                <a:latin typeface="Poppins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4625" y="3357562"/>
            <a:ext cx="6762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3C5FD"/>
                </a:solidFill>
                <a:latin typeface="Inter"/>
              </a:rPr>
              <a:t>Apresentação do Sistema de Controle de Biblioteca concluída.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849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Inter</vt:lpstr>
      <vt:lpstr>Poppins</vt:lpstr>
      <vt:lpstr>Poppins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Wesley Neves</cp:lastModifiedBy>
  <cp:revision>2</cp:revision>
  <dcterms:created xsi:type="dcterms:W3CDTF">2013-01-27T09:14:16Z</dcterms:created>
  <dcterms:modified xsi:type="dcterms:W3CDTF">2026-08-27T03:13:45Z</dcterms:modified>
  <cp:category/>
</cp:coreProperties>
</file>